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78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67308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2606040"/>
            <a:ext cx="9144000" cy="1371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ANN-Based Road Accident Hotspot Prediction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E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Project-Based Learning Report  |  CSL0606 – Deep Learning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FB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3 (Good Health)  &amp;  SDG 11 (Sustainable Cities)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2926080"/>
            <a:ext cx="25603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02920" y="2926080"/>
            <a:ext cx="2560320" cy="274320"/>
          </a:xfrm>
          <a:prstGeom prst="rect">
            <a:avLst/>
          </a:prstGeom>
          <a:solidFill>
            <a:srgbClr val="2E5F9E"/>
          </a:solidFill>
          <a:ln w="12700">
            <a:solidFill>
              <a:srgbClr val="2E5F9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02920" y="2926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94360" y="32461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Sumit Sharma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354787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BETN1AI23023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37947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ITM University Gwalior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91840" y="2926080"/>
            <a:ext cx="25603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291840" y="2926080"/>
            <a:ext cx="2560320" cy="274320"/>
          </a:xfrm>
          <a:prstGeom prst="rect">
            <a:avLst/>
          </a:prstGeom>
          <a:solidFill>
            <a:srgbClr val="2E5F9E"/>
          </a:solidFill>
          <a:ln w="12700">
            <a:solidFill>
              <a:srgbClr val="2E5F9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91840" y="2926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Developer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383280" y="32461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Anuj Pratap Singh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83280" y="354787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BETN1AI23048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83280" y="37947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ITM University Gwalior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080760" y="2926080"/>
            <a:ext cx="25603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080760" y="2926080"/>
            <a:ext cx="2560320" cy="274320"/>
          </a:xfrm>
          <a:prstGeom prst="rect">
            <a:avLst/>
          </a:prstGeom>
          <a:solidFill>
            <a:srgbClr val="2E5F9E"/>
          </a:solidFill>
          <a:ln w="12700">
            <a:solidFill>
              <a:srgbClr val="2E5F9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080760" y="2926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 &amp; Reporter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172200" y="32461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Amrit Sharma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72200" y="354787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BETN1AI23024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172200" y="37947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ITM University Gwalior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46634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Dr. Sanjay Jain, Professor  |  Dept. of CSA, ITM University Gwalior  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412480" y="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E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4974336"/>
            <a:ext cx="859536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CSL0606 – Deep Learning  |  ITM University Gwalior  |  B.Tech AIML VI Sem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685800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65760" y="685800"/>
            <a:ext cx="457200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65760" y="68580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685800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SDG Alignment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1490472"/>
            <a:ext cx="411480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365760" y="1490472"/>
            <a:ext cx="457200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65760" y="1490472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1490472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2295144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365760" y="2295144"/>
            <a:ext cx="457200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65760" y="2295144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2295144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Description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099816"/>
            <a:ext cx="411480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365760" y="3099816"/>
            <a:ext cx="457200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65760" y="3099816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4400" y="3099816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&amp; Feature Engineering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3904488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365760" y="3904488"/>
            <a:ext cx="457200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365760" y="3904488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14400" y="3904488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 Architecture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00600" y="685800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4800600" y="685800"/>
            <a:ext cx="457200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800600" y="685800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349240" y="685800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Development &amp; Implementation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800600" y="1490472"/>
            <a:ext cx="411480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4800600" y="1490472"/>
            <a:ext cx="457200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800600" y="1490472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349240" y="1490472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Performance Analysis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800600" y="2295144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4800600" y="2295144"/>
            <a:ext cx="457200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800600" y="2295144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349240" y="2295144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&amp; IEEE Alignment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800600" y="3099816"/>
            <a:ext cx="4114800" cy="658368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4800600" y="3099816"/>
            <a:ext cx="457200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4800600" y="3099816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349240" y="3099816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SDG Alignment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412480" y="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E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4974336"/>
            <a:ext cx="859536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CSL0606 – Deep Learning  |  ITM University Gwalior  |  B.Tech AIML VI Sem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640080"/>
            <a:ext cx="493776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20040" y="640080"/>
            <a:ext cx="493776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20040" y="640080"/>
            <a:ext cx="4937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1115568"/>
            <a:ext cx="201168" cy="20116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04672" y="1069848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1.35M+ road fatalities per year globally (WHO, 2023)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1719072"/>
            <a:ext cx="201168" cy="20116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04672" y="1673352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dataset: 2,047,256 accident records across 34 features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2322576"/>
            <a:ext cx="201168" cy="20116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804672" y="2276856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frequency maps ignore multi-factor spatial &amp; temporal context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2926080"/>
            <a:ext cx="201168" cy="20116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804672" y="2880360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Shallow ML models miss complex non-linear patterns across severity, weather &amp; road type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3529584"/>
            <a:ext cx="201168" cy="20116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804672" y="3483864"/>
            <a:ext cx="4251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ANN framework using grid-based binary hotspot labelling with time-of-day features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0" y="640080"/>
            <a:ext cx="3291840" cy="1645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5486400" y="640080"/>
            <a:ext cx="329184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486400" y="64008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3 — Good Health &amp; Well-Being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623560" y="1051560"/>
            <a:ext cx="3017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3.6: Halve global road traffic deaths by 2030.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enables evidence-based road safety interventions aligned with indicator 3.6.1.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0" y="2423160"/>
            <a:ext cx="3291840" cy="18288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5486400" y="2423160"/>
            <a:ext cx="3291840" cy="347472"/>
          </a:xfrm>
          <a:prstGeom prst="rect">
            <a:avLst/>
          </a:prstGeom>
          <a:solidFill>
            <a:srgbClr val="2E5F9E"/>
          </a:solidFill>
          <a:ln w="12700">
            <a:solidFill>
              <a:srgbClr val="2E5F9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5486400" y="242316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11 — Sustainable Cities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623560" y="2834640"/>
            <a:ext cx="30175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11.2: Safe &amp; sustainable transport.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Hotspot maps directly inform urban infrastructure design &amp; traffic signal placement.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486400" y="431596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YESIST12 Track: Innovation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412480" y="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E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4974336"/>
            <a:ext cx="859536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CSL0606 – Deep Learning  |  ITM University Gwalior  |  B.Tech AIML VI Sem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658368"/>
            <a:ext cx="85039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20040" y="658368"/>
            <a:ext cx="1463040" cy="12618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47472" y="704088"/>
            <a:ext cx="14081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Moosavi et al., 2019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47472" y="1207008"/>
            <a:ext cx="140817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AE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US-Accidents: A Countrywide Traffic Accident Dataset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920240" y="749808"/>
            <a:ext cx="6720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Analysed 2.8M US accident records using ML classifiers with geo-encoded lat/lon features
</a:t>
            </a: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Findings: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Weather, road type &amp; location encoding are strongest accident severity predictors
</a:t>
            </a: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Gap: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shallow ML; no deep ANN with grid-based geo-encoding for hotspot binary classification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2075688"/>
            <a:ext cx="8503920" cy="12618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20040" y="2075688"/>
            <a:ext cx="1463040" cy="12618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47472" y="2121408"/>
            <a:ext cx="14081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Ren et al., 2021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7472" y="2624328"/>
            <a:ext cx="140817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AE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Accident Hotspot Detection Using ANN and Geographic Feature Encoding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920240" y="2167128"/>
            <a:ext cx="6720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 trained on geo-encoded accident features (lat/lon binning + road/weather attributes)
</a:t>
            </a: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Findings: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88%+ accuracy; ANN outperformed Logistic Regression &amp; Random Forest baselines
</a:t>
            </a: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Gap: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complex road graph features; no simple grid threshold for binary hotspot labelling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3493008"/>
            <a:ext cx="85039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320040" y="3493008"/>
            <a:ext cx="1463040" cy="12618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47472" y="3538728"/>
            <a:ext cx="14081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Theofilatos &amp; Yannis, 2014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47472" y="4041648"/>
            <a:ext cx="140817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AE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 of Statistical Models and Machine Learning for Road Accident Hotspot Prediction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920240" y="3584448"/>
            <a:ext cx="6720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review of ANN, logistic regression &amp; SVM on historical accident tabular data
</a:t>
            </a: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Findings: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 consistently outperforms traditional ML on accuracy &amp; recall for hotspot prediction
</a:t>
            </a:r>
            <a:r>
              <a:rPr lang="en-US" sz="10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Gap: </a:t>
            </a: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time-of-day feature extraction; no grid-based binary labelling from accident counts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Description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412480" y="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E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4974336"/>
            <a:ext cx="859536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CSL0606 – Deep Learning  |  ITM University Gwalior  |  B.Tech AIML VI Sem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640080"/>
            <a:ext cx="41148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20040" y="640080"/>
            <a:ext cx="411480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20040" y="6400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Road Accidents Dataset (Kaggle – Accident_Information.csv)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097280"/>
            <a:ext cx="1325880" cy="347472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57200" y="109728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920240" y="109728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2,047,256 accident records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1600200"/>
            <a:ext cx="1325880" cy="347472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57200" y="160020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920240" y="16002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Kingdom (Multi-year road accident records)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103120"/>
            <a:ext cx="1325880" cy="347472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57200" y="210312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920240" y="210312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Tabular / Geospatial (CSV, 34 columns)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2606040"/>
            <a:ext cx="1325880" cy="347472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57200" y="260604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Hotspot Label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920240" y="260604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is_hotspot = 1 if acc_count &gt; 30, else 0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3108960"/>
            <a:ext cx="1325880" cy="347472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57200" y="310896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Test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920240" y="310896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  |  20% Test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3611880"/>
            <a:ext cx="1325880" cy="347472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57200" y="3611880"/>
            <a:ext cx="1325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920240" y="361188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lat_grid, lon_grid, Accident_Severity, Weather_Conditions, Road_Type, Light_Conditions, Time, Urban_or_Rural_Area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663440" y="658368"/>
            <a:ext cx="4160520" cy="579907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4663440" y="658368"/>
            <a:ext cx="685800" cy="579907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663440" y="658368"/>
            <a:ext cx="685800" cy="57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 Features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486400" y="731520"/>
            <a:ext cx="3200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lat_grid, lon_grid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86400" y="1011149"/>
            <a:ext cx="3200400" cy="1775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from Latitude // 0.02 and Longitude // 0.02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663440" y="1457926"/>
            <a:ext cx="4160520" cy="579907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4663440" y="1457926"/>
            <a:ext cx="685800" cy="579907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663440" y="1457926"/>
            <a:ext cx="685800" cy="579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/ Road / Weather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486400" y="153107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Accident_Severity, Weather_Conditions, Road_Type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486400" y="1836665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Encoded using sklearn LabelEncoder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663440" y="2246131"/>
            <a:ext cx="4160520" cy="579907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4663440" y="2246131"/>
            <a:ext cx="685800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4663440" y="2246131"/>
            <a:ext cx="685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/ Time / Area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486400" y="2319283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extracted as hour using pd.to_datetime().dt.hour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486400" y="2595756"/>
            <a:ext cx="3657600" cy="2173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Light_Conditions, Urban_or_Rural_Area (Label Encoded)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754880" y="4198462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566E043D-AF1B-EED3-5220-B4305CF910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7083" y="3080849"/>
            <a:ext cx="4696917" cy="134470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 &amp; Feature Engineering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412480" y="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E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4974336"/>
            <a:ext cx="859536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CSL0606 – Deep Learning  |  ITM University Gwalior  |  B.Tech AIML VI Sem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658368"/>
            <a:ext cx="41148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20040" y="658368"/>
            <a:ext cx="548640" cy="12618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20040" y="658368"/>
            <a:ext cx="5486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768096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 Handling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1115568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8 columns from 34; dropped NaN rows via .dropna() — 2,047,256 → 2,046,925 clean records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658368"/>
            <a:ext cx="41148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754880" y="658368"/>
            <a:ext cx="548640" cy="12618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754880" y="658368"/>
            <a:ext cx="5486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40680" y="768096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Construction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40680" y="1115568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lat_grid = Latitude // 0.02; lon_grid = Longitude // 0.02 — creates ~2 km spatial bins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2075688"/>
            <a:ext cx="41148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320040" y="2075688"/>
            <a:ext cx="548640" cy="12618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20040" y="2075688"/>
            <a:ext cx="5486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05840" y="2185416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Hotspot Labelling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05840" y="2532888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cells with acc_count &gt; 30 labelled is_hotspot=1; rest is_hotspot=0 (binary classification)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2075688"/>
            <a:ext cx="41148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4754880" y="2075688"/>
            <a:ext cx="548640" cy="12618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4754880" y="2075688"/>
            <a:ext cx="5486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440680" y="2185416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Encoding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40680" y="2532888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LabelEncoder applied to: Accident_Severity, Weather_Conditions, Road_Type, Light_Conditions, Urban_or_Rural_Area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" y="3493008"/>
            <a:ext cx="41148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320040" y="3493008"/>
            <a:ext cx="548640" cy="12618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320040" y="3493008"/>
            <a:ext cx="5486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005840" y="3602736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Feature Extraction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05840" y="3950208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column parsed with pd.to_datetime → .dt.hour (0–23); captures time-of-day risk patterns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3493008"/>
            <a:ext cx="411480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4754880" y="3493008"/>
            <a:ext cx="548640" cy="12618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754880" y="3493008"/>
            <a:ext cx="54864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440680" y="3602736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Scaling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440680" y="3950208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applied to X_train (fit) and X_test (transform) — zero mean, unit variance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017520" y="4645152"/>
            <a:ext cx="310896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3108960" y="457657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shape after preprocessing: (2,046,925, 12) — 8 features + lat_grid, lon_grid, acc_count, is_hotspot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System Architecture — Deep Neural Network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412480" y="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E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4974336"/>
            <a:ext cx="859536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CSL0606 – Deep Learning  |  ITM University Gwalior  |  B.Tech AIML VI Sem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65760" y="658368"/>
            <a:ext cx="4389120" cy="6583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65760" y="658368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Layer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987552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E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tabular features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60320" y="1316736"/>
            <a:ext cx="0" cy="173736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365760" y="1490472"/>
            <a:ext cx="4389120" cy="658368"/>
          </a:xfrm>
          <a:prstGeom prst="rect">
            <a:avLst/>
          </a:prstGeom>
          <a:solidFill>
            <a:srgbClr val="2E5F9E"/>
          </a:solidFill>
          <a:ln w="12700">
            <a:solidFill>
              <a:srgbClr val="2E5F9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65760" y="1490472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Layer 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1819656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Dense(128 neurons) · ReLU activation · Dropout(0.3)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560320" y="2148840"/>
            <a:ext cx="0" cy="173736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365760" y="2322576"/>
            <a:ext cx="4389120" cy="658368"/>
          </a:xfrm>
          <a:prstGeom prst="rect">
            <a:avLst/>
          </a:prstGeom>
          <a:solidFill>
            <a:srgbClr val="2E5F9E"/>
          </a:solidFill>
          <a:ln w="12700">
            <a:solidFill>
              <a:srgbClr val="2E5F9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65760" y="2322576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Layer 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265176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Dense(64 neurons) · ReLU activation · Dropout(0.3)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560320" y="2980944"/>
            <a:ext cx="0" cy="173736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365760" y="3154680"/>
            <a:ext cx="4389120" cy="65836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65760" y="315468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Layer 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3483864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Dense(32 neurons) · ReLU activation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560320" y="3813048"/>
            <a:ext cx="0" cy="173736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365760" y="3986784"/>
            <a:ext cx="4389120" cy="6583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65760" y="3986784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Layer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65760" y="4315968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Dense(1) · Sigmoid → Hotspot (1) | Non-Hotspot (0)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074920" y="640080"/>
            <a:ext cx="37490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5120640" y="685800"/>
            <a:ext cx="3657600" cy="35661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CD2D5FA6-7C47-0EEF-DC22-65D05B0380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3232" y="833874"/>
            <a:ext cx="3385892" cy="332483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Development &amp; Implementation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412480" y="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E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4974336"/>
            <a:ext cx="859536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CSL0606 – Deep Learning  |  ITM University Gwalior  |  B.Tech AIML VI Sem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640080"/>
            <a:ext cx="42062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20040" y="640080"/>
            <a:ext cx="420624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20040" y="6400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Specifications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1097280"/>
            <a:ext cx="4023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57200" y="109728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Type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103120" y="109728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DNN Binary Classification (TF/Keras)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" y="1481328"/>
            <a:ext cx="402336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57200" y="148132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103120" y="148132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 (lr = 0.001)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1865376"/>
            <a:ext cx="4023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57200" y="1865376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Function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103120" y="186537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Cross-Entropy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11480" y="2249424"/>
            <a:ext cx="402336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57200" y="2249424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103120" y="2249424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 (hidden)  ·  Sigmoid (output)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11480" y="2633472"/>
            <a:ext cx="4023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57200" y="263347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103120" y="263347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11480" y="3017520"/>
            <a:ext cx="402336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57200" y="301752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103120" y="301752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11480" y="3401568"/>
            <a:ext cx="4023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57200" y="340156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Split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103120" y="340156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test split (random_state=42)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11480" y="3785616"/>
            <a:ext cx="4023360" cy="3474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57200" y="3785616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Params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103120" y="378561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~11.5K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754880" y="640080"/>
            <a:ext cx="4069080" cy="3657600"/>
          </a:xfrm>
          <a:prstGeom prst="rect">
            <a:avLst/>
          </a:prstGeom>
          <a:solidFill>
            <a:srgbClr val="1E293B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754880" y="640080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Summary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46320" y="109728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Sequential()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846320" y="1481328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Dense(128, activation=relu)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846320" y="1865376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Dropout(0.3)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846320" y="2249424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Dense(64, activation=relu)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846320" y="2633472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Dropout(0.3)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846320" y="301752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846320" y="3401568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Dense(32, activation=relu)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846320" y="3785616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7E8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Dense(1, activation=sigmoid)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20040" y="4370832"/>
            <a:ext cx="850392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411480" y="4334256"/>
            <a:ext cx="8321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 with: optimizer=adam, loss=binary_crossentropy, metrics=[accuracy]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Training Visualization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412480" y="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E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4974336"/>
            <a:ext cx="859536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CSL0606 – Deep Learning  |  ITM University Gwalior  |  B.Tech AIML VI Sem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5943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trained for 10 epochs with batch_size=256 on 80% of 2,046,925 records: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005840"/>
            <a:ext cx="420624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65760" y="1051560"/>
            <a:ext cx="4114800" cy="30632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57200" y="23545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vs Epoch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 1: train_acc=0.8838, val_acc=0.8927  →  Epoch 10: train_acc=0.8958, val_acc=0.8984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accuracy stays above training accuracy across all 10 epochs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005840"/>
            <a:ext cx="416052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709160" y="1051560"/>
            <a:ext cx="4069080" cy="306324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800600" y="2354580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vs Epoch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 1: train_loss=0.2397, val_loss=0.2284  →  Epoch 10: train_loss=0.2206, val_loss=0.2155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train and validation loss decrease steadily across all 10 epochs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42519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optimizer=adam  |  loss=binary_crossentropy  |  batch_size=256  |  epochs=10  |  validation_data=(X_test, y_test)</a:t>
            </a:r>
            <a:endParaRPr lang="en-US" sz="10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BA354E1-1F39-4EFD-866F-58E4797EE1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40080"/>
            <a:ext cx="8229600" cy="43436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Performance Analysis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412480" y="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E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4974336"/>
            <a:ext cx="859536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CSL0606 – Deep Learning  |  ITM University Gwalior  |  B.Tech AIML VI Sem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640080"/>
            <a:ext cx="19659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320040" y="640080"/>
            <a:ext cx="1965960" cy="2011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20040" y="82296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89.84%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20040" y="141732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496312" y="640080"/>
            <a:ext cx="19659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496312" y="640080"/>
            <a:ext cx="1965960" cy="201168"/>
          </a:xfrm>
          <a:prstGeom prst="rect">
            <a:avLst/>
          </a:prstGeom>
          <a:solidFill>
            <a:srgbClr val="2E5F9E"/>
          </a:solidFill>
          <a:ln w="12700">
            <a:solidFill>
              <a:srgbClr val="2E5F9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2496312" y="82296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E5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496312" y="141732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F1-Score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72584" y="640080"/>
            <a:ext cx="19659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4672584" y="640080"/>
            <a:ext cx="1965960" cy="20116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672584" y="82296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672584" y="141732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Precision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848856" y="640080"/>
            <a:ext cx="19659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848856" y="640080"/>
            <a:ext cx="1965960" cy="20116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848856" y="82296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848856" y="1417320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Hotspot · Non-Hotspot</a:t>
            </a:r>
            <a:endParaRPr lang="en-US" sz="95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828800"/>
          <a:ext cx="4206240" cy="155448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Non-Hotspot (0)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F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Hotspot (1)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Weighted Avg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4754880" y="1783080"/>
            <a:ext cx="406908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2"/>
          <p:cNvSpPr/>
          <p:nvPr/>
        </p:nvSpPr>
        <p:spPr>
          <a:xfrm>
            <a:off x="4800600" y="1828800"/>
            <a:ext cx="3977640" cy="25603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3"/>
          <p:cNvSpPr/>
          <p:nvPr/>
        </p:nvSpPr>
        <p:spPr>
          <a:xfrm>
            <a:off x="4892040" y="2880360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Matrix: [[40470, 20007], [21580, 327328]]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TP=327,328 | TN=40,470 | FP=20,007 | FN=21,580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test samples: 409,385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320040" y="4407408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Support: Non-Hotspot=60,477 | Hotspot=348,908  |  Dataset: UK Accident_Information.csv</a:t>
            </a:r>
            <a:endParaRPr lang="en-US" sz="105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418BC182-72C0-D42B-B705-668A41EC6C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8206" y="1894046"/>
            <a:ext cx="2581299" cy="240239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Accident Hotspot Scatter Map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412480" y="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E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4974336"/>
            <a:ext cx="859536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CSL0606 – Deep Learning  |  ITM University Gwalior  |  B.Tech AIML VI Sem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65760" y="5943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plot of all 2,046,925 records — colour-coded by is_hotspot (0 or 1) using palette=coolwarm: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005840"/>
            <a:ext cx="2651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20040" y="1005840"/>
            <a:ext cx="2651760" cy="3200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20040" y="10058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Plot: is_hotspot = 0 (Blue)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1371600"/>
            <a:ext cx="2560320" cy="28803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57200" y="25831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Non-hotspot records — grid cells with acc_count ≤ 30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across entire UK map (majority class: 348,908 records)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x=Longitude, y=Latitude, alpha=0.6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27832" y="1005840"/>
            <a:ext cx="2651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227832" y="1005840"/>
            <a:ext cx="2651760" cy="3200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27832" y="10058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Plot: is_hotspot = 1 (Orange/Red)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73552" y="1371600"/>
            <a:ext cx="2560320" cy="28803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364992" y="25831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Hotspot records — grid cells with acc_count &gt; 30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Minority class: 60,477 records out of 409,385 test set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grid_size=0.02, threshold=30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35624" y="1005840"/>
            <a:ext cx="26517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6135624" y="1005840"/>
            <a:ext cx="2651760" cy="3200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135624" y="10058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Prediction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181344" y="1371600"/>
            <a:ext cx="2560320" cy="288036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272784" y="25831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y_pred = (model.predict(X_test) &gt; 0.5).astype(int)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Accuracy: 0.8984 on test set of 409,385 records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train_test_split(test_size=0.2, random_state=42)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40740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is_hotspot = 0 (Non-Hotspot)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64992" y="440740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🟠 is_hotspot = 1 (Hotspot, acc_count &gt; 30)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72784" y="440740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sns.scatterplot on df[Longitude], df[Latitude]</a:t>
            </a:r>
            <a:endParaRPr lang="en-US" sz="1100" dirty="0"/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94360"/>
            <a:ext cx="8229600" cy="43436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&amp; IEEE YESIST12 Alignment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412480" y="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E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4974336"/>
            <a:ext cx="859536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CSL0606 – Deep Learning  |  ITM University Gwalior  |  B.Tech AIML VI Sem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20040" y="640080"/>
            <a:ext cx="4114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57200" y="7772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 Grid-Based Spatial Binning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207008"/>
            <a:ext cx="3840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 coordinates binned into 0.02° (~2 km) grid cells — enables cluster-level hotspot identification that per-record models miss entirely.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640080"/>
            <a:ext cx="4114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892040" y="7772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 Time-of-Day Feature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92040" y="1207008"/>
            <a:ext cx="3840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column parsed to hour-of-day (0–23) — captures peak accident periods (rush hours, night driving) as a predictive signal.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" y="2724912"/>
            <a:ext cx="4114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57200" y="286207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Scalable &amp; Lightweight DNN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291840"/>
            <a:ext cx="3840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model.compile(optimizer=adam, loss=binary_crossentropy). threshold=30 can be changed in one line. Works on any Lat/Lon accident CSV.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54880" y="2724912"/>
            <a:ext cx="41148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892040" y="286207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Scatter Map Visualisation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92040" y="3291840"/>
            <a:ext cx="38404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sns.scatterplot(x=Longitude, y=Latitude, hue=is_hotspot, palette=coolwarm) gives instant visual of risk zones across the UK.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20040" y="4645152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YESIST12 — Innovation Track  ·  SDG 3.6.1  ·  SDG 11.2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20040" y="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Outcomes &amp; Work Distribution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8412480" y="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EC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D6E4F7"/>
          </a:solidFill>
          <a:ln w="1270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4974336"/>
            <a:ext cx="8595360" cy="169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CSL0606 – Deep Learning  |  ITM University Gwalior  |  B.Tech AIML VI Sem</a:t>
            </a:r>
            <a:endParaRPr lang="en-US" sz="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640080"/>
          <a:ext cx="8503920" cy="260604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26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 Preprocessing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2M-row UK Accidents pipeline: column selection, dropna, grid binning, hotspot labelling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Development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DNN (Dense 128-64-32-1) — Binary classifier with Dropout via TensorFlow/Keras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 Analysis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 89.84%, Precision/Recall/F1 per class, confusion matrix analysis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Optimization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Dropout tuning (0.3), batch size (256), layer depth, threshold optimisation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Real-World AI Solution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UK scatter hotspot map aligned with SDG 3 &amp; SDG 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20040" y="338328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320040" y="3383280"/>
            <a:ext cx="2651760" cy="3200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320040" y="33832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11480" y="37490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Sumit Sharma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11480" y="400507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BETN1AI23023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11480" y="4224528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acquisition · Preprocessing pipeline · Grid binning · Label encoding · Train-test split</a:t>
            </a:r>
            <a:endParaRPr lang="en-US" sz="850" dirty="0"/>
          </a:p>
        </p:txBody>
      </p:sp>
      <p:sp>
        <p:nvSpPr>
          <p:cNvPr id="7" name="Shape 11"/>
          <p:cNvSpPr/>
          <p:nvPr/>
        </p:nvSpPr>
        <p:spPr>
          <a:xfrm>
            <a:off x="3227832" y="338328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3227832" y="3383280"/>
            <a:ext cx="2651760" cy="3200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3227832" y="33832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Developer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319272" y="37490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Anuj Pratap Singh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319272" y="400507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BETN1AI23048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3319272" y="4224528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DNN architecture · TF/Keras implementation · Model training · Loss/accuracy plots · Scatter map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6135624" y="338328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8"/>
          <p:cNvSpPr/>
          <p:nvPr/>
        </p:nvSpPr>
        <p:spPr>
          <a:xfrm>
            <a:off x="6135624" y="3383280"/>
            <a:ext cx="2651760" cy="3200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19"/>
          <p:cNvSpPr/>
          <p:nvPr/>
        </p:nvSpPr>
        <p:spPr>
          <a:xfrm>
            <a:off x="6135624" y="33832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 &amp; Reporter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227064" y="37490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Amrit Sharma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227064" y="400507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BETN1AI23024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6227064" y="4224528"/>
            <a:ext cx="24688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 · Literature review · Report writing · IEEE YESIST12 formatting · Presentation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4173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1280160"/>
            <a:ext cx="9144000" cy="1371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9144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FB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14 / 14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554480"/>
            <a:ext cx="41605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20040" y="1554480"/>
            <a:ext cx="4160520" cy="3474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20040" y="155448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Key Achievements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0116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89.84% test accuracy on binary hotspot classification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4688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2,046,925 UK records → grid-binned tabular DNN pipeline built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9260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UK geographic scatter map showing hotspot vs non-hotspot zones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3832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SDG 3 &amp; SDG 11 aligned, IEEE YESIST12 ready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1554480"/>
            <a:ext cx="41605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663440" y="1554480"/>
            <a:ext cx="4160520" cy="34747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663440" y="155448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Limitations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00600" y="20116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Fixed 0.02° grid may over-aggregate dense urban areas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00600" y="24688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Fixed threshold (30) for hotspot label may not suit all regions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00600" y="29260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No seasonality features — only hour-of-day extracted from Time column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3977640"/>
            <a:ext cx="8503920" cy="8046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57200" y="4041648"/>
            <a:ext cx="1463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Future Scope:  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920240" y="4041648"/>
            <a:ext cx="6766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smaller grid_size (e.g. 0.01°)  ·  Add Day_of_Week from Date column  ·  Try different threshold values beyond 30  ·  Test Random Forest / XGBoost as baselines  ·  More epochs and Dropout tuning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2096</Words>
  <Application>Microsoft Office PowerPoint</Application>
  <PresentationFormat>On-screen Show (16:9)</PresentationFormat>
  <Paragraphs>287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CNN-Based Accident Hotspot Prediction</dc:title>
  <dc:subject>PptxGenJS Presentation</dc:subject>
  <dc:creator>PptxGenJS</dc:creator>
  <cp:lastModifiedBy>Sumit Sharma</cp:lastModifiedBy>
  <cp:revision>3</cp:revision>
  <dcterms:created xsi:type="dcterms:W3CDTF">2026-03-08T18:23:03Z</dcterms:created>
  <dcterms:modified xsi:type="dcterms:W3CDTF">2026-04-06T11:36:44Z</dcterms:modified>
</cp:coreProperties>
</file>